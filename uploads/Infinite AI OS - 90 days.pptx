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1C24"/>
    <a:srgbClr val="3E503C"/>
    <a:srgbClr val="1414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1" d="100"/>
          <a:sy n="71" d="100"/>
        </p:scale>
        <p:origin x="1304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5514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frame: this is a 90-day progress readout. One sentence mission. We will show what was built, proof it works, and what it is worth.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frame: this is a 90-day progress readout. One sentence mission. We will show what was built, proof it works, and what it is worth.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one-pager. If stakeholders remember one slide, it is this one. Three built assets, one verdict.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we are doing this. Not novelty — cost, dependency, and exit value. Three outcomes stakeholders care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sequence was deliberate: learn the work first, prove usefulness second, build infrastructure only for what earned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tree metaphor, simplified: visible AI employees above the line, six-layer root system below. The roots are the asset.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illustrative recreations of the May proof-of-concept sessions: a Teams conversation with Abby, Val's RFQ checklist, and a Lucy-drafted report. Say clearly these are stylized recreations of real sessions.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org chart: Abby manages, three specialists execute, everything escalates to human owners. This replaces four resume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status board. Three lanes verified live. Two in structured review — framed as normal engineering discipline, not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Self-evolving does not mean uncontrolled. Walk the loop clockwise: nothing deploys without human approval. This is the improvement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workstreams, business value first: hardening, workflow pilots with baselines, Goal 2 baseline, then proven optimization.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closing win. Defensible math: EBITDA uplift times multiple expansion. Base case 1.33x — about +33% enterprise value. Upside 1.65x once workflow ROI is proven.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ask: continue to phase two — workflow pilots with measured baselines. Open for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4000" contrast="-2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936" y="313422"/>
            <a:ext cx="2107359" cy="163852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960121" y="9767888"/>
            <a:ext cx="146251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8A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1800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9AECC58A-4087-4E20-CA9A-339D00FCC63B}"/>
              </a:ext>
            </a:extLst>
          </p:cNvPr>
          <p:cNvSpPr/>
          <p:nvPr/>
        </p:nvSpPr>
        <p:spPr>
          <a:xfrm>
            <a:off x="3420835" y="335193"/>
            <a:ext cx="1760764" cy="1206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850" b="1">
                <a:solidFill>
                  <a:srgbClr val="EE1C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</a:t>
            </a:r>
            <a:endParaRPr lang="en-US" sz="8850" dirty="0">
              <a:solidFill>
                <a:srgbClr val="EE1C24"/>
              </a:solidFill>
            </a:endParaRP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FA357017-2AF4-C826-B4B6-6B15C3D0393E}"/>
              </a:ext>
            </a:extLst>
          </p:cNvPr>
          <p:cNvSpPr/>
          <p:nvPr/>
        </p:nvSpPr>
        <p:spPr>
          <a:xfrm>
            <a:off x="5018313" y="313422"/>
            <a:ext cx="4767943" cy="1206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>
              <a:lnSpc>
                <a:spcPct val="104000"/>
              </a:lnSpc>
            </a:pPr>
            <a:r>
              <a:rPr lang="en-US" sz="885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possible</a:t>
            </a:r>
            <a:endParaRPr lang="en-US" sz="8850" dirty="0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B7462B03-28AF-8916-E414-5C703FB36969}"/>
              </a:ext>
            </a:extLst>
          </p:cNvPr>
          <p:cNvSpPr/>
          <p:nvPr/>
        </p:nvSpPr>
        <p:spPr>
          <a:xfrm>
            <a:off x="9761764" y="503846"/>
            <a:ext cx="5105401" cy="826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>
              <a:lnSpc>
                <a:spcPct val="104000"/>
              </a:lnSpc>
            </a:pPr>
            <a:r>
              <a:rPr lang="en-US" sz="885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</a:t>
            </a:r>
            <a:endParaRPr lang="en-US" sz="88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E36823-F345-0910-C1D7-9ADF58C403E0}"/>
              </a:ext>
            </a:extLst>
          </p:cNvPr>
          <p:cNvSpPr txBox="1"/>
          <p:nvPr/>
        </p:nvSpPr>
        <p:spPr>
          <a:xfrm>
            <a:off x="9589016" y="2049640"/>
            <a:ext cx="676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rgbClr val="3E503C"/>
                </a:solidFill>
                <a:latin typeface="Engravers MT" panose="02090707080505020304" pitchFamily="18" charset="77"/>
                <a:ea typeface="Meiryo" panose="020B0604030504040204" pitchFamily="34" charset="-128"/>
              </a:rPr>
              <a:t>Val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6F2265-9B16-B8FD-7657-694A5C3217DC}"/>
              </a:ext>
            </a:extLst>
          </p:cNvPr>
          <p:cNvSpPr txBox="1"/>
          <p:nvPr/>
        </p:nvSpPr>
        <p:spPr>
          <a:xfrm>
            <a:off x="8789049" y="1501981"/>
            <a:ext cx="9140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Engravers MT" panose="02090707080505020304" pitchFamily="18" charset="77"/>
                <a:ea typeface="Brush Script MT" panose="03060802040406070304" pitchFamily="66" charset="-122"/>
                <a:cs typeface="Brush Script MT" panose="03060802040406070304" pitchFamily="66" charset="-122"/>
              </a:rPr>
              <a:t>Abby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ADF0CB-3CE5-CEF7-2D2B-55E5CDD79D5F}"/>
              </a:ext>
            </a:extLst>
          </p:cNvPr>
          <p:cNvSpPr txBox="1"/>
          <p:nvPr/>
        </p:nvSpPr>
        <p:spPr>
          <a:xfrm>
            <a:off x="7732349" y="2597300"/>
            <a:ext cx="10567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Engravers MT" panose="02090707080505020304" pitchFamily="18" charset="77"/>
                <a:ea typeface="Meiryo" panose="020B0604030504040204" pitchFamily="34" charset="-128"/>
              </a:rPr>
              <a:t>Jacob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B6F535-FFC1-EADD-23F0-189DA802326B}"/>
              </a:ext>
            </a:extLst>
          </p:cNvPr>
          <p:cNvSpPr txBox="1"/>
          <p:nvPr/>
        </p:nvSpPr>
        <p:spPr>
          <a:xfrm>
            <a:off x="9703082" y="2578862"/>
            <a:ext cx="9268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rgbClr val="3E503C"/>
                </a:solidFill>
                <a:latin typeface="Engravers MT" panose="02090707080505020304" pitchFamily="18" charset="77"/>
                <a:ea typeface="Meiryo" panose="020B0604030504040204" pitchFamily="34" charset="-128"/>
              </a:rPr>
              <a:t>Lucy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857250"/>
            <a:ext cx="1960066" cy="152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47750" y="4320927"/>
            <a:ext cx="514350" cy="38100"/>
          </a:xfrm>
          <a:prstGeom prst="rect">
            <a:avLst/>
          </a:prstGeom>
          <a:solidFill>
            <a:srgbClr val="E221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733550" y="4209008"/>
            <a:ext cx="908955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A8A8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PROGRESS REPORT · APRIL 6 — JULY 6, 2026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047750" y="4813846"/>
            <a:ext cx="14668500" cy="1206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850" b="1" dirty="0">
                <a:solidFill>
                  <a:srgbClr val="EE1C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Infinite</a:t>
            </a:r>
            <a:r>
              <a:rPr lang="en-US" sz="88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AI OS</a:t>
            </a:r>
            <a:endParaRPr lang="en-US" sz="8850" dirty="0"/>
          </a:p>
        </p:txBody>
      </p:sp>
      <p:sp>
        <p:nvSpPr>
          <p:cNvPr id="6" name="Text 3"/>
          <p:cNvSpPr/>
          <p:nvPr/>
        </p:nvSpPr>
        <p:spPr>
          <a:xfrm>
            <a:off x="1047750" y="6325642"/>
            <a:ext cx="12263438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3000" dirty="0">
                <a:solidFill>
                  <a:srgbClr val="C9C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90 days</a:t>
            </a:r>
            <a:r>
              <a:rPr lang="en-US" sz="3000">
                <a:solidFill>
                  <a:srgbClr val="C9C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we </a:t>
            </a:r>
            <a:r>
              <a:rPr lang="en-US" sz="3000" dirty="0">
                <a:solidFill>
                  <a:srgbClr val="C9C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the AI infrastructure that turns repetitive work and tribal knowledge into repeatable, governed workflows.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047750" y="9182100"/>
            <a:ext cx="500169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8A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Infinite </a:t>
            </a:r>
            <a:r>
              <a:rPr lang="en-US" sz="1800" kern="0" spc="72">
                <a:solidFill>
                  <a:srgbClr val="8A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 Group by Rakesh David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910694" y="9182100"/>
            <a:ext cx="146251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8A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519237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E2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71588"/>
            <a:ext cx="14225588" cy="12754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4350" b="1" dirty="0">
                <a:solidFill>
                  <a:srgbClr val="1919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90 days</a:t>
            </a:r>
            <a:r>
              <a:rPr lang="en-US" sz="4350" b="1">
                <a:solidFill>
                  <a:srgbClr val="1919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r>
              <a:rPr lang="en-US" sz="4350" b="1">
                <a:solidFill>
                  <a:srgbClr val="EE1C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Infinite</a:t>
            </a:r>
            <a:r>
              <a:rPr lang="en-US" sz="4350" b="1">
                <a:solidFill>
                  <a:srgbClr val="1919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4350" b="1" dirty="0">
                <a:solidFill>
                  <a:srgbClr val="1919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went from idea to a working AI operating foundation</a:t>
            </a:r>
            <a:endParaRPr lang="en-US" sz="4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3249" y="857250"/>
            <a:ext cx="1127001" cy="8763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3175695"/>
            <a:ext cx="5168875" cy="3223171"/>
          </a:xfrm>
          <a:prstGeom prst="rect">
            <a:avLst/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047750" y="3175695"/>
            <a:ext cx="5168875" cy="47625"/>
          </a:xfrm>
          <a:prstGeom prst="rect">
            <a:avLst/>
          </a:prstGeom>
          <a:solidFill>
            <a:srgbClr val="E221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428750" y="3642420"/>
            <a:ext cx="4847563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1919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5700" dirty="0"/>
          </a:p>
        </p:txBody>
      </p:sp>
      <p:sp>
        <p:nvSpPr>
          <p:cNvPr id="8" name="Text 5"/>
          <p:cNvSpPr/>
          <p:nvPr/>
        </p:nvSpPr>
        <p:spPr>
          <a:xfrm>
            <a:off x="1428750" y="4537770"/>
            <a:ext cx="484756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employees hired</a:t>
            </a:r>
            <a:endParaRPr lang="en-US" sz="1875" dirty="0"/>
          </a:p>
        </p:txBody>
      </p:sp>
      <p:sp>
        <p:nvSpPr>
          <p:cNvPr id="9" name="Text 6"/>
          <p:cNvSpPr/>
          <p:nvPr/>
        </p:nvSpPr>
        <p:spPr>
          <a:xfrm>
            <a:off x="1428750" y="4985445"/>
            <a:ext cx="4539081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Named, role-based AI staff with skills, boundaries, and a manager — already conversing in Teams.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559525" y="3175695"/>
            <a:ext cx="5168875" cy="3223171"/>
          </a:xfrm>
          <a:prstGeom prst="rect">
            <a:avLst/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559525" y="3175695"/>
            <a:ext cx="5168875" cy="47625"/>
          </a:xfrm>
          <a:prstGeom prst="rect">
            <a:avLst/>
          </a:prstGeom>
          <a:solidFill>
            <a:srgbClr val="E221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940525" y="3642420"/>
            <a:ext cx="4847563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1919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5700" dirty="0"/>
          </a:p>
        </p:txBody>
      </p:sp>
      <p:sp>
        <p:nvSpPr>
          <p:cNvPr id="13" name="Text 10"/>
          <p:cNvSpPr/>
          <p:nvPr/>
        </p:nvSpPr>
        <p:spPr>
          <a:xfrm>
            <a:off x="6940525" y="4537770"/>
            <a:ext cx="484756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memory built</a:t>
            </a:r>
            <a:endParaRPr lang="en-US" sz="1875" dirty="0"/>
          </a:p>
        </p:txBody>
      </p:sp>
      <p:sp>
        <p:nvSpPr>
          <p:cNvPr id="14" name="Text 11"/>
          <p:cNvSpPr/>
          <p:nvPr/>
        </p:nvSpPr>
        <p:spPr>
          <a:xfrm>
            <a:off x="6940525" y="4985445"/>
            <a:ext cx="4539081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Tribal knowledge is becoming searchable: files, job history, and decisions AI can find by meaning.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2071300" y="3175695"/>
            <a:ext cx="5168950" cy="3223171"/>
          </a:xfrm>
          <a:prstGeom prst="rect">
            <a:avLst/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2071300" y="3175695"/>
            <a:ext cx="5168950" cy="47625"/>
          </a:xfrm>
          <a:prstGeom prst="rect">
            <a:avLst/>
          </a:prstGeom>
          <a:solidFill>
            <a:srgbClr val="E221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2452300" y="3642420"/>
            <a:ext cx="4847645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1919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5700" dirty="0"/>
          </a:p>
        </p:txBody>
      </p:sp>
      <p:sp>
        <p:nvSpPr>
          <p:cNvPr id="18" name="Text 15"/>
          <p:cNvSpPr/>
          <p:nvPr/>
        </p:nvSpPr>
        <p:spPr>
          <a:xfrm>
            <a:off x="12452300" y="4537770"/>
            <a:ext cx="48476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systems live</a:t>
            </a:r>
            <a:endParaRPr lang="en-US" sz="1875" dirty="0"/>
          </a:p>
        </p:txBody>
      </p:sp>
      <p:sp>
        <p:nvSpPr>
          <p:cNvPr id="19" name="Text 16"/>
          <p:cNvSpPr/>
          <p:nvPr/>
        </p:nvSpPr>
        <p:spPr>
          <a:xfrm>
            <a:off x="12452300" y="4985445"/>
            <a:ext cx="4539158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channels, memory search, and conversation continuity verified live in production.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1047750" y="8705850"/>
            <a:ext cx="16192500" cy="19050"/>
          </a:xfrm>
          <a:prstGeom prst="rect">
            <a:avLst/>
          </a:pr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047750" y="9164853"/>
            <a:ext cx="2174409" cy="3000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E2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VERDICT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3291185" y="9029700"/>
            <a:ext cx="1245381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90 days built the root system. The next 90 turn it into measured business results.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276454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E2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71588"/>
            <a:ext cx="12764542" cy="65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4350" b="1" dirty="0">
                <a:solidFill>
                  <a:srgbClr val="1919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goal: reduce the cost of operating the business</a:t>
            </a:r>
            <a:endParaRPr lang="en-US" sz="4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3249" y="857250"/>
            <a:ext cx="1127001" cy="8763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7750" y="2271266"/>
            <a:ext cx="13244513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becomes valuable when it is connected to company memory, approved tools, and human approval gates — not when it is a chat window.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1047750" y="3823841"/>
            <a:ext cx="16192500" cy="19050"/>
          </a:xfrm>
          <a:prstGeom prst="rect">
            <a:avLst/>
          </a:pr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35700" y="3842891"/>
            <a:ext cx="9525" cy="2595563"/>
          </a:xfrm>
          <a:prstGeom prst="rect">
            <a:avLst/>
          </a:prstGeom>
          <a:solidFill>
            <a:srgbClr val="E3E1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47750" y="4261991"/>
            <a:ext cx="5465735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E22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1047750" y="4819204"/>
            <a:ext cx="5465735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cost to serve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1047750" y="5366891"/>
            <a:ext cx="5117916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work handled with less manual searching, drafting, routing, and rework.</a:t>
            </a:r>
            <a:endParaRPr lang="en-US" sz="1875" dirty="0"/>
          </a:p>
        </p:txBody>
      </p:sp>
      <p:sp>
        <p:nvSpPr>
          <p:cNvPr id="11" name="Shape 8"/>
          <p:cNvSpPr/>
          <p:nvPr/>
        </p:nvSpPr>
        <p:spPr>
          <a:xfrm>
            <a:off x="11833175" y="3842891"/>
            <a:ext cx="9525" cy="2595563"/>
          </a:xfrm>
          <a:prstGeom prst="rect">
            <a:avLst/>
          </a:prstGeom>
          <a:solidFill>
            <a:srgbClr val="E3E1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864325" y="4261991"/>
            <a:ext cx="5004725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E22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6864325" y="4819204"/>
            <a:ext cx="5004725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owner dependency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6864325" y="5366891"/>
            <a:ext cx="4686243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knowledge captured in a form AI employees can retrieve and use — not locked in people's heads.</a:t>
            </a:r>
            <a:endParaRPr lang="en-US" sz="1875" dirty="0"/>
          </a:p>
        </p:txBody>
      </p:sp>
      <p:sp>
        <p:nvSpPr>
          <p:cNvPr id="15" name="Text 12"/>
          <p:cNvSpPr/>
          <p:nvPr/>
        </p:nvSpPr>
        <p:spPr>
          <a:xfrm>
            <a:off x="12261800" y="4261991"/>
            <a:ext cx="5476295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E22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550" dirty="0"/>
          </a:p>
        </p:txBody>
      </p:sp>
      <p:sp>
        <p:nvSpPr>
          <p:cNvPr id="16" name="Text 13"/>
          <p:cNvSpPr/>
          <p:nvPr/>
        </p:nvSpPr>
        <p:spPr>
          <a:xfrm>
            <a:off x="12261800" y="4819204"/>
            <a:ext cx="5476295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exit readiness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12261800" y="5366891"/>
            <a:ext cx="5127803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Documented, repeatable, AI-enabled operations make the business easier to diligence — and worth more.</a:t>
            </a:r>
            <a:endParaRPr lang="en-US" sz="18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519237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E2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GOT HERE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71588"/>
            <a:ext cx="14225588" cy="12754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4350" b="1" dirty="0">
                <a:solidFill>
                  <a:srgbClr val="1919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phases: learn the work, prove the value, build the foundation</a:t>
            </a:r>
            <a:endParaRPr lang="en-US" sz="4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3249" y="857250"/>
            <a:ext cx="1127001" cy="8763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3366195"/>
            <a:ext cx="247650" cy="247650"/>
          </a:xfrm>
          <a:prstGeom prst="ellipse">
            <a:avLst/>
          </a:prstGeom>
          <a:solidFill>
            <a:srgbClr val="E221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447800" y="3475732"/>
            <a:ext cx="4718000" cy="28575"/>
          </a:xfrm>
          <a:prstGeom prst="rect">
            <a:avLst/>
          </a:prstGeom>
          <a:solidFill>
            <a:srgbClr val="E3E1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47750" y="3937695"/>
            <a:ext cx="521075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47750" y="4332982"/>
            <a:ext cx="521075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9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047750" y="4904482"/>
            <a:ext cx="4879162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Mapped the workflows, knowledge sources, and risk boundaries where AI could remove the most cost.</a:t>
            </a:r>
            <a:endParaRPr lang="en-US" sz="1875" dirty="0"/>
          </a:p>
        </p:txBody>
      </p:sp>
      <p:sp>
        <p:nvSpPr>
          <p:cNvPr id="10" name="Text 7"/>
          <p:cNvSpPr/>
          <p:nvPr/>
        </p:nvSpPr>
        <p:spPr>
          <a:xfrm>
            <a:off x="1047750" y="6109395"/>
            <a:ext cx="521075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i="1" dirty="0">
                <a:solidFill>
                  <a:srgbClr val="E22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work should AI support?</a:t>
            </a:r>
            <a:endParaRPr lang="en-US" sz="1950" dirty="0"/>
          </a:p>
        </p:txBody>
      </p:sp>
      <p:sp>
        <p:nvSpPr>
          <p:cNvPr id="11" name="Shape 8"/>
          <p:cNvSpPr/>
          <p:nvPr/>
        </p:nvSpPr>
        <p:spPr>
          <a:xfrm>
            <a:off x="6584900" y="3366195"/>
            <a:ext cx="247650" cy="247650"/>
          </a:xfrm>
          <a:prstGeom prst="ellipse">
            <a:avLst/>
          </a:prstGeom>
          <a:solidFill>
            <a:srgbClr val="E221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984950" y="3475732"/>
            <a:ext cx="4718075" cy="28575"/>
          </a:xfrm>
          <a:prstGeom prst="rect">
            <a:avLst/>
          </a:prstGeom>
          <a:solidFill>
            <a:srgbClr val="E3E1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584900" y="3937695"/>
            <a:ext cx="521083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584900" y="4332982"/>
            <a:ext cx="521083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9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 of concept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6584900" y="4904482"/>
            <a:ext cx="4879239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AI teammates in Teams and email, estimating support, file intake, and report generation.</a:t>
            </a:r>
            <a:endParaRPr lang="en-US" sz="1875" dirty="0"/>
          </a:p>
        </p:txBody>
      </p:sp>
      <p:sp>
        <p:nvSpPr>
          <p:cNvPr id="16" name="Text 13"/>
          <p:cNvSpPr/>
          <p:nvPr/>
        </p:nvSpPr>
        <p:spPr>
          <a:xfrm>
            <a:off x="6584900" y="6109395"/>
            <a:ext cx="52108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i="1" dirty="0">
                <a:solidFill>
                  <a:srgbClr val="E22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patterns earn hardening?</a:t>
            </a:r>
            <a:endParaRPr lang="en-US" sz="1950" dirty="0"/>
          </a:p>
        </p:txBody>
      </p:sp>
      <p:sp>
        <p:nvSpPr>
          <p:cNvPr id="17" name="Shape 14"/>
          <p:cNvSpPr/>
          <p:nvPr/>
        </p:nvSpPr>
        <p:spPr>
          <a:xfrm>
            <a:off x="12122125" y="3366195"/>
            <a:ext cx="247650" cy="247650"/>
          </a:xfrm>
          <a:prstGeom prst="ellipse">
            <a:avLst/>
          </a:prstGeom>
          <a:solidFill>
            <a:srgbClr val="E221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2522175" y="3475732"/>
            <a:ext cx="4718000" cy="28575"/>
          </a:xfrm>
          <a:prstGeom prst="rect">
            <a:avLst/>
          </a:prstGeom>
          <a:solidFill>
            <a:srgbClr val="E3E1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2122125" y="3937695"/>
            <a:ext cx="521075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— JULY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2122125" y="4332982"/>
            <a:ext cx="521075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9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 build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12122125" y="4904482"/>
            <a:ext cx="4879162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the durable root system: memory, knowledge map, profiles, tool connectors, and observability.</a:t>
            </a:r>
            <a:endParaRPr lang="en-US" sz="1875" dirty="0"/>
          </a:p>
        </p:txBody>
      </p:sp>
      <p:sp>
        <p:nvSpPr>
          <p:cNvPr id="22" name="Text 19"/>
          <p:cNvSpPr/>
          <p:nvPr/>
        </p:nvSpPr>
        <p:spPr>
          <a:xfrm>
            <a:off x="12122125" y="6109395"/>
            <a:ext cx="521075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i="1" dirty="0">
                <a:solidFill>
                  <a:srgbClr val="E22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AI repeatable?</a:t>
            </a:r>
            <a:endParaRPr lang="en-US" sz="1950" dirty="0"/>
          </a:p>
        </p:txBody>
      </p:sp>
      <p:sp>
        <p:nvSpPr>
          <p:cNvPr id="23" name="Shape 20"/>
          <p:cNvSpPr/>
          <p:nvPr/>
        </p:nvSpPr>
        <p:spPr>
          <a:xfrm>
            <a:off x="1047750" y="8448675"/>
            <a:ext cx="16192500" cy="981075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504950" y="8808244"/>
            <a:ext cx="2757220" cy="3000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F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4278213" y="8736667"/>
            <a:ext cx="1126642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F5F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only built infrastructure for patterns that proved useful first — no speculative technology spend.</a:t>
            </a:r>
            <a:endParaRPr lang="en-US" sz="18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089758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F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1 · AI INFRASTRUCTURE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71588"/>
            <a:ext cx="10897582" cy="65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4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built an operating system, not a chatbot</a:t>
            </a:r>
            <a:endParaRPr lang="en-US" sz="4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60217" y="857250"/>
            <a:ext cx="980033" cy="76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04184" y="2592735"/>
            <a:ext cx="296979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8A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PEOPLE SEE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965951" y="2423666"/>
            <a:ext cx="1209526" cy="600075"/>
          </a:xfrm>
          <a:prstGeom prst="roundRect">
            <a:avLst>
              <a:gd name="adj" fmla="val 50000"/>
            </a:avLst>
          </a:prstGeom>
          <a:solidFill>
            <a:srgbClr val="26261F"/>
          </a:solidFill>
          <a:ln w="9525">
            <a:solidFill>
              <a:srgbClr val="4545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299326" y="2585591"/>
            <a:ext cx="61897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5F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Abby</a:t>
            </a:r>
            <a:endParaRPr lang="en-US" sz="1875" dirty="0"/>
          </a:p>
        </p:txBody>
      </p:sp>
      <p:sp>
        <p:nvSpPr>
          <p:cNvPr id="8" name="Shape 5"/>
          <p:cNvSpPr/>
          <p:nvPr/>
        </p:nvSpPr>
        <p:spPr>
          <a:xfrm>
            <a:off x="9423127" y="2423666"/>
            <a:ext cx="993279" cy="600075"/>
          </a:xfrm>
          <a:prstGeom prst="roundRect">
            <a:avLst>
              <a:gd name="adj" fmla="val 50000"/>
            </a:avLst>
          </a:prstGeom>
          <a:solidFill>
            <a:srgbClr val="26261F"/>
          </a:solidFill>
          <a:ln w="9525">
            <a:solidFill>
              <a:srgbClr val="4545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756502" y="2585591"/>
            <a:ext cx="40272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5F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</a:t>
            </a:r>
            <a:endParaRPr lang="en-US" sz="1875" dirty="0"/>
          </a:p>
        </p:txBody>
      </p:sp>
      <p:sp>
        <p:nvSpPr>
          <p:cNvPr id="10" name="Shape 7"/>
          <p:cNvSpPr/>
          <p:nvPr/>
        </p:nvSpPr>
        <p:spPr>
          <a:xfrm>
            <a:off x="10664056" y="2423666"/>
            <a:ext cx="1302246" cy="600075"/>
          </a:xfrm>
          <a:prstGeom prst="roundRect">
            <a:avLst>
              <a:gd name="adj" fmla="val 50000"/>
            </a:avLst>
          </a:prstGeom>
          <a:solidFill>
            <a:srgbClr val="26261F"/>
          </a:solidFill>
          <a:ln w="9525">
            <a:solidFill>
              <a:srgbClr val="4545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997431" y="2585591"/>
            <a:ext cx="71169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5F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Jacob</a:t>
            </a:r>
            <a:endParaRPr lang="en-US" sz="1875" dirty="0"/>
          </a:p>
        </p:txBody>
      </p:sp>
      <p:sp>
        <p:nvSpPr>
          <p:cNvPr id="12" name="Shape 9"/>
          <p:cNvSpPr/>
          <p:nvPr/>
        </p:nvSpPr>
        <p:spPr>
          <a:xfrm>
            <a:off x="12213952" y="2423666"/>
            <a:ext cx="1169789" cy="600075"/>
          </a:xfrm>
          <a:prstGeom prst="roundRect">
            <a:avLst>
              <a:gd name="adj" fmla="val 50000"/>
            </a:avLst>
          </a:prstGeom>
          <a:solidFill>
            <a:srgbClr val="26261F"/>
          </a:solidFill>
          <a:ln w="9525">
            <a:solidFill>
              <a:srgbClr val="4545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2547327" y="2585591"/>
            <a:ext cx="57923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5F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Lucy</a:t>
            </a:r>
            <a:endParaRPr lang="en-US" sz="1875" dirty="0"/>
          </a:p>
        </p:txBody>
      </p:sp>
      <p:sp>
        <p:nvSpPr>
          <p:cNvPr id="14" name="Shape 11"/>
          <p:cNvSpPr/>
          <p:nvPr/>
        </p:nvSpPr>
        <p:spPr>
          <a:xfrm>
            <a:off x="1047750" y="3430935"/>
            <a:ext cx="6815956" cy="19050"/>
          </a:xfrm>
          <a:prstGeom prst="rect">
            <a:avLst/>
          </a:prstGeom>
          <a:gradFill rotWithShape="1">
            <a:gsLst>
              <a:gs pos="0">
                <a:srgbClr val="55554D">
                  <a:alpha val="0"/>
                </a:srgbClr>
              </a:gs>
              <a:gs pos="100000">
                <a:srgbClr val="55554D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092306" y="3309491"/>
            <a:ext cx="231372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8A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SURFACE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0424294" y="3430935"/>
            <a:ext cx="6815956" cy="19050"/>
          </a:xfrm>
          <a:prstGeom prst="rect">
            <a:avLst/>
          </a:prstGeom>
          <a:gradFill rotWithShape="1">
            <a:gsLst>
              <a:gs pos="0">
                <a:srgbClr val="55554D">
                  <a:alpha val="100000"/>
                </a:srgbClr>
              </a:gs>
              <a:gs pos="100000">
                <a:srgbClr val="55554D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684416" y="3819079"/>
            <a:ext cx="761108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8A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THEM WORK — THE ROOT SYSTEM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047750" y="4366766"/>
            <a:ext cx="5257800" cy="2426717"/>
          </a:xfrm>
          <a:prstGeom prst="rect">
            <a:avLst/>
          </a:prstGeom>
          <a:solidFill>
            <a:srgbClr val="1E1E1A"/>
          </a:solidFill>
          <a:ln w="9525">
            <a:solidFill>
              <a:srgbClr val="3333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381125" y="4662041"/>
            <a:ext cx="505015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COMPANY MEMORY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381125" y="5019229"/>
            <a:ext cx="4728782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B5B4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Meaning-based search — finds concepts, not just filenames.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515100" y="4366766"/>
            <a:ext cx="5257800" cy="2426717"/>
          </a:xfrm>
          <a:prstGeom prst="rect">
            <a:avLst/>
          </a:prstGeom>
          <a:solidFill>
            <a:srgbClr val="1E1E1A"/>
          </a:solidFill>
          <a:ln w="9525">
            <a:solidFill>
              <a:srgbClr val="3333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848475" y="4662041"/>
            <a:ext cx="505015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KNOWLEDGE MAP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848475" y="5019229"/>
            <a:ext cx="4728782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B5B4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people, projects, systems, and decisions.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11982450" y="4366766"/>
            <a:ext cx="5257800" cy="2426717"/>
          </a:xfrm>
          <a:prstGeom prst="rect">
            <a:avLst/>
          </a:prstGeom>
          <a:solidFill>
            <a:srgbClr val="1E1E1A"/>
          </a:solidFill>
          <a:ln w="9525">
            <a:solidFill>
              <a:srgbClr val="3333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2315825" y="4662041"/>
            <a:ext cx="505015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FILE INTAKE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2315825" y="5019229"/>
            <a:ext cx="4728782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B5B4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SharePoint and file drives flow into AI-usable context.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1047750" y="7003033"/>
            <a:ext cx="5257800" cy="2426717"/>
          </a:xfrm>
          <a:prstGeom prst="rect">
            <a:avLst/>
          </a:prstGeom>
          <a:solidFill>
            <a:srgbClr val="1E1E1A"/>
          </a:solidFill>
          <a:ln w="9525">
            <a:solidFill>
              <a:srgbClr val="3333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1381125" y="7298308"/>
            <a:ext cx="505015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EMPLOYEE PROFILES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381125" y="7655496"/>
            <a:ext cx="4728782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B5B4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Role-specific instructions, tools, boundaries, and handoffs.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6515100" y="7003033"/>
            <a:ext cx="5257800" cy="2426717"/>
          </a:xfrm>
          <a:prstGeom prst="rect">
            <a:avLst/>
          </a:prstGeom>
          <a:solidFill>
            <a:srgbClr val="1E1E1A"/>
          </a:solidFill>
          <a:ln w="9525">
            <a:solidFill>
              <a:srgbClr val="3333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848475" y="7298308"/>
            <a:ext cx="505015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TOOL CONNECTORS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6848475" y="7655496"/>
            <a:ext cx="4728782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B5B4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Teams, email, Odoo, reporting — approved access only.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11982450" y="7003033"/>
            <a:ext cx="5257800" cy="2426717"/>
          </a:xfrm>
          <a:prstGeom prst="rect">
            <a:avLst/>
          </a:prstGeom>
          <a:solidFill>
            <a:srgbClr val="1E1E1A"/>
          </a:solidFill>
          <a:ln w="9525">
            <a:solidFill>
              <a:srgbClr val="3333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12315825" y="7298308"/>
            <a:ext cx="505015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OBSERVABILITY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2315825" y="7655496"/>
            <a:ext cx="4728782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B5B4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AI action traced, scored, and reviewable.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264143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E2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IT WORKS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71588"/>
            <a:ext cx="12641431" cy="65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4350" b="1" dirty="0">
                <a:solidFill>
                  <a:srgbClr val="1919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employees are already working in real channels</a:t>
            </a:r>
            <a:endParaRPr lang="en-US" sz="4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3249" y="857250"/>
            <a:ext cx="1127001" cy="8763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2461766"/>
            <a:ext cx="5168875" cy="5157341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057275" y="2471291"/>
            <a:ext cx="5149825" cy="723900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04925" y="2642741"/>
            <a:ext cx="381000" cy="381000"/>
          </a:xfrm>
          <a:prstGeom prst="ellipse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19275" y="2702272"/>
            <a:ext cx="153274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F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Abby · Teams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1057275" y="3195191"/>
            <a:ext cx="5149825" cy="4414391"/>
          </a:xfrm>
          <a:prstGeom prst="rect">
            <a:avLst/>
          </a:prstGeom>
          <a:solidFill>
            <a:srgbClr val="F4F3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2249165" y="3442841"/>
            <a:ext cx="3710285" cy="624780"/>
          </a:xfrm>
          <a:prstGeom prst="roundRect">
            <a:avLst>
              <a:gd name="adj" fmla="val 24393"/>
            </a:avLst>
          </a:prstGeom>
          <a:solidFill>
            <a:srgbClr val="14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2458715" y="3595241"/>
            <a:ext cx="340249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F5F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Abby, what's blocking this week?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1304925" y="4220021"/>
            <a:ext cx="4654525" cy="1318171"/>
          </a:xfrm>
          <a:prstGeom prst="roundRect">
            <a:avLst>
              <a:gd name="adj" fmla="val 11561"/>
            </a:avLst>
          </a:prstGeom>
          <a:solidFill>
            <a:srgbClr val="FFFFFF"/>
          </a:solidFill>
          <a:ln w="9525">
            <a:solidFill>
              <a:srgbClr val="E3E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1524000" y="4381946"/>
            <a:ext cx="4356011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items: the Westfield quote needs a material spec, and Val is waiting on the RFQ drawings. I've flagged both owners.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047750" y="7828657"/>
            <a:ext cx="568576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Conversations in Teams</a:t>
            </a:r>
            <a:endParaRPr lang="en-US" sz="1875" dirty="0"/>
          </a:p>
        </p:txBody>
      </p:sp>
      <p:sp>
        <p:nvSpPr>
          <p:cNvPr id="15" name="Text 11"/>
          <p:cNvSpPr/>
          <p:nvPr/>
        </p:nvSpPr>
        <p:spPr>
          <a:xfrm>
            <a:off x="1047750" y="8181082"/>
            <a:ext cx="5323941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employees answer where people already work — no new app to learn.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6559525" y="2461766"/>
            <a:ext cx="5168875" cy="5157341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569050" y="2471291"/>
            <a:ext cx="5149825" cy="723900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816700" y="2642741"/>
            <a:ext cx="381000" cy="381000"/>
          </a:xfrm>
          <a:prstGeom prst="ellipse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331050" y="2702272"/>
            <a:ext cx="189552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F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 · RFQ review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816700" y="3442841"/>
            <a:ext cx="25092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7124774" y="3454747"/>
            <a:ext cx="266218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spec confirmed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6816700" y="3847654"/>
            <a:ext cx="25092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7124774" y="3859560"/>
            <a:ext cx="295989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Quantities match drawings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6816700" y="4252466"/>
            <a:ext cx="25092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7124774" y="4264372"/>
            <a:ext cx="241228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 prior job found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6816700" y="4657279"/>
            <a:ext cx="1397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2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7013600" y="4657279"/>
            <a:ext cx="408049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spec missing — ask customer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6816700" y="6971407"/>
            <a:ext cx="4654525" cy="9525"/>
          </a:xfrm>
          <a:prstGeom prst="rect">
            <a:avLst/>
          </a:prstGeom>
          <a:solidFill>
            <a:srgbClr val="E3E1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6816700" y="7114282"/>
            <a:ext cx="479416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4 estimating inputs ready</a:t>
            </a:r>
            <a:endParaRPr lang="en-US" sz="1800" dirty="0"/>
          </a:p>
        </p:txBody>
      </p:sp>
      <p:sp>
        <p:nvSpPr>
          <p:cNvPr id="30" name="Text 25"/>
          <p:cNvSpPr/>
          <p:nvPr/>
        </p:nvSpPr>
        <p:spPr>
          <a:xfrm>
            <a:off x="6559525" y="7828657"/>
            <a:ext cx="568576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Estimating support</a:t>
            </a:r>
            <a:endParaRPr lang="en-US" sz="1875" dirty="0"/>
          </a:p>
        </p:txBody>
      </p:sp>
      <p:sp>
        <p:nvSpPr>
          <p:cNvPr id="31" name="Text 26"/>
          <p:cNvSpPr/>
          <p:nvPr/>
        </p:nvSpPr>
        <p:spPr>
          <a:xfrm>
            <a:off x="6559525" y="8181082"/>
            <a:ext cx="5323941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RFQ review, assumptions, and missing-input checklists drafted in minutes.</a:t>
            </a:r>
            <a:endParaRPr lang="en-US" sz="1800" dirty="0"/>
          </a:p>
        </p:txBody>
      </p:sp>
      <p:sp>
        <p:nvSpPr>
          <p:cNvPr id="32" name="Shape 27"/>
          <p:cNvSpPr/>
          <p:nvPr/>
        </p:nvSpPr>
        <p:spPr>
          <a:xfrm>
            <a:off x="12071300" y="2461766"/>
            <a:ext cx="5168950" cy="5157341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12080825" y="2471291"/>
            <a:ext cx="5149900" cy="723900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2328475" y="2642741"/>
            <a:ext cx="381000" cy="381000"/>
          </a:xfrm>
          <a:prstGeom prst="ellipse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2842825" y="2702272"/>
            <a:ext cx="230120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F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Lucy · Weekly report</a:t>
            </a:r>
            <a:endParaRPr lang="en-US" sz="1800" dirty="0"/>
          </a:p>
        </p:txBody>
      </p:sp>
      <p:sp>
        <p:nvSpPr>
          <p:cNvPr id="36" name="Text 30"/>
          <p:cNvSpPr/>
          <p:nvPr/>
        </p:nvSpPr>
        <p:spPr>
          <a:xfrm>
            <a:off x="12328475" y="3442841"/>
            <a:ext cx="512006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919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 update — Week 12</a:t>
            </a:r>
            <a:endParaRPr lang="en-US" sz="2100" dirty="0"/>
          </a:p>
        </p:txBody>
      </p:sp>
      <p:sp>
        <p:nvSpPr>
          <p:cNvPr id="37" name="Shape 31"/>
          <p:cNvSpPr/>
          <p:nvPr/>
        </p:nvSpPr>
        <p:spPr>
          <a:xfrm>
            <a:off x="12328475" y="3895279"/>
            <a:ext cx="4654600" cy="133350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2"/>
          <p:cNvSpPr/>
          <p:nvPr/>
        </p:nvSpPr>
        <p:spPr>
          <a:xfrm>
            <a:off x="12328475" y="4181029"/>
            <a:ext cx="4002956" cy="133350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3"/>
          <p:cNvSpPr/>
          <p:nvPr/>
        </p:nvSpPr>
        <p:spPr>
          <a:xfrm>
            <a:off x="12328475" y="4466779"/>
            <a:ext cx="4282232" cy="133350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4"/>
          <p:cNvSpPr/>
          <p:nvPr/>
        </p:nvSpPr>
        <p:spPr>
          <a:xfrm>
            <a:off x="12328475" y="4752529"/>
            <a:ext cx="2978944" cy="133350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5"/>
          <p:cNvSpPr/>
          <p:nvPr/>
        </p:nvSpPr>
        <p:spPr>
          <a:xfrm>
            <a:off x="12328475" y="6842820"/>
            <a:ext cx="4654600" cy="9525"/>
          </a:xfrm>
          <a:prstGeom prst="rect">
            <a:avLst/>
          </a:prstGeom>
          <a:solidFill>
            <a:srgbClr val="E3E1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6"/>
          <p:cNvSpPr/>
          <p:nvPr/>
        </p:nvSpPr>
        <p:spPr>
          <a:xfrm>
            <a:off x="12328475" y="6985695"/>
            <a:ext cx="775097" cy="376238"/>
          </a:xfrm>
          <a:prstGeom prst="roundRect">
            <a:avLst>
              <a:gd name="adj" fmla="val 50000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7"/>
          <p:cNvSpPr/>
          <p:nvPr/>
        </p:nvSpPr>
        <p:spPr>
          <a:xfrm>
            <a:off x="12480875" y="7042845"/>
            <a:ext cx="54649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</a:t>
            </a:r>
            <a:endParaRPr lang="en-US" sz="1800" dirty="0"/>
          </a:p>
        </p:txBody>
      </p:sp>
      <p:sp>
        <p:nvSpPr>
          <p:cNvPr id="44" name="Text 38"/>
          <p:cNvSpPr/>
          <p:nvPr/>
        </p:nvSpPr>
        <p:spPr>
          <a:xfrm>
            <a:off x="13217872" y="7049988"/>
            <a:ext cx="298363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Drafted from company files</a:t>
            </a:r>
            <a:endParaRPr lang="en-US" sz="1800" dirty="0"/>
          </a:p>
        </p:txBody>
      </p:sp>
      <p:sp>
        <p:nvSpPr>
          <p:cNvPr id="45" name="Text 39"/>
          <p:cNvSpPr/>
          <p:nvPr/>
        </p:nvSpPr>
        <p:spPr>
          <a:xfrm>
            <a:off x="12071300" y="7828657"/>
            <a:ext cx="56858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on demand</a:t>
            </a:r>
            <a:endParaRPr lang="en-US" sz="1875" dirty="0"/>
          </a:p>
        </p:txBody>
      </p:sp>
      <p:sp>
        <p:nvSpPr>
          <p:cNvPr id="46" name="Text 40"/>
          <p:cNvSpPr/>
          <p:nvPr/>
        </p:nvSpPr>
        <p:spPr>
          <a:xfrm>
            <a:off x="12071300" y="8181082"/>
            <a:ext cx="5324018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files become polished, client-ready reports and updates.</a:t>
            </a:r>
            <a:endParaRPr lang="en-US" sz="1800" dirty="0"/>
          </a:p>
        </p:txBody>
      </p:sp>
      <p:sp>
        <p:nvSpPr>
          <p:cNvPr id="47" name="Text 41"/>
          <p:cNvSpPr/>
          <p:nvPr/>
        </p:nvSpPr>
        <p:spPr>
          <a:xfrm>
            <a:off x="11814870" y="9167813"/>
            <a:ext cx="596791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Stylized recreations </a:t>
            </a:r>
            <a:r>
              <a:rPr lang="en-US" sz="1800" i="1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 </a:t>
            </a:r>
            <a:r>
              <a:rPr lang="en-US" sz="1800" i="1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proof-of-concept sessions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519237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E2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TEAM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71588"/>
            <a:ext cx="14225588" cy="12754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4350" b="1" dirty="0">
                <a:solidFill>
                  <a:srgbClr val="1919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AI employees, one manager, human oversight throughout</a:t>
            </a:r>
            <a:endParaRPr lang="en-US" sz="4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3249" y="857250"/>
            <a:ext cx="1127001" cy="8763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19750" y="2966145"/>
            <a:ext cx="7048426" cy="695325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057900" y="3175695"/>
            <a:ext cx="226772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kern="0" spc="150" dirty="0">
                <a:solidFill>
                  <a:srgbClr val="F5F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OWNER</a:t>
            </a:r>
            <a:endParaRPr lang="en-US" sz="1875" dirty="0"/>
          </a:p>
        </p:txBody>
      </p:sp>
      <p:sp>
        <p:nvSpPr>
          <p:cNvPr id="7" name="Text 4"/>
          <p:cNvSpPr/>
          <p:nvPr/>
        </p:nvSpPr>
        <p:spPr>
          <a:xfrm>
            <a:off x="8309967" y="3189982"/>
            <a:ext cx="43120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8A8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approves anything sensitive or external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29713" y="3661470"/>
            <a:ext cx="28575" cy="323850"/>
          </a:xfrm>
          <a:prstGeom prst="rect">
            <a:avLst/>
          </a:prstGeom>
          <a:solidFill>
            <a:srgbClr val="E3E1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403824" y="3985320"/>
            <a:ext cx="9480352" cy="13335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919"/>
            </a:solidFill>
            <a:prstDash val="solid"/>
          </a:ln>
          <a:effectLst>
            <a:outerShdw blurRad="57150" dist="1905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41974" y="4232970"/>
            <a:ext cx="838200" cy="838200"/>
          </a:xfrm>
          <a:prstGeom prst="ellipse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27824" y="4344888"/>
            <a:ext cx="617296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Abby</a:t>
            </a:r>
            <a:endParaRPr lang="en-US" sz="2250" dirty="0"/>
          </a:p>
        </p:txBody>
      </p:sp>
      <p:sp>
        <p:nvSpPr>
          <p:cNvPr id="12" name="Text 8"/>
          <p:cNvSpPr/>
          <p:nvPr/>
        </p:nvSpPr>
        <p:spPr>
          <a:xfrm>
            <a:off x="5927824" y="4711601"/>
            <a:ext cx="617296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of Staff · assigns work, tracks evidence, reports up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787262" y="4444901"/>
            <a:ext cx="1658764" cy="414338"/>
          </a:xfrm>
          <a:prstGeom prst="roundRect">
            <a:avLst>
              <a:gd name="adj" fmla="val 50000"/>
            </a:avLst>
          </a:prstGeom>
          <a:solidFill>
            <a:srgbClr val="E221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11958712" y="4521101"/>
            <a:ext cx="139206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9129713" y="5318820"/>
            <a:ext cx="28575" cy="323850"/>
          </a:xfrm>
          <a:prstGeom prst="rect">
            <a:avLst/>
          </a:prstGeom>
          <a:solidFill>
            <a:srgbClr val="E3E1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1714500" y="5642670"/>
            <a:ext cx="4749775" cy="2499271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  <a:prstDash val="solid"/>
          </a:ln>
          <a:effectLst>
            <a:outerShdw blurRad="28575" dist="9525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066925" y="5956995"/>
            <a:ext cx="723900" cy="723900"/>
          </a:xfrm>
          <a:prstGeom prst="ellipse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981325" y="6021288"/>
            <a:ext cx="106174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</a:t>
            </a:r>
            <a:endParaRPr lang="en-US" sz="2250" dirty="0"/>
          </a:p>
        </p:txBody>
      </p:sp>
      <p:sp>
        <p:nvSpPr>
          <p:cNvPr id="19" name="Text 14"/>
          <p:cNvSpPr/>
          <p:nvPr/>
        </p:nvSpPr>
        <p:spPr>
          <a:xfrm>
            <a:off x="2981325" y="6368951"/>
            <a:ext cx="106174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Estimator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2066925" y="6833295"/>
            <a:ext cx="4166273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RFQs and job history into estimate drafts and clarifying questions.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6769075" y="5642670"/>
            <a:ext cx="4749775" cy="2499271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  <a:prstDash val="solid"/>
          </a:ln>
          <a:effectLst>
            <a:outerShdw blurRad="28575" dist="9525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121500" y="5956995"/>
            <a:ext cx="723900" cy="723900"/>
          </a:xfrm>
          <a:prstGeom prst="ellipse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035900" y="6021288"/>
            <a:ext cx="181661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Jacob</a:t>
            </a:r>
            <a:endParaRPr lang="en-US" sz="2250" dirty="0"/>
          </a:p>
        </p:txBody>
      </p:sp>
      <p:sp>
        <p:nvSpPr>
          <p:cNvPr id="24" name="Text 18"/>
          <p:cNvSpPr/>
          <p:nvPr/>
        </p:nvSpPr>
        <p:spPr>
          <a:xfrm>
            <a:off x="8035900" y="6368951"/>
            <a:ext cx="181661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Reviewer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7121500" y="6833295"/>
            <a:ext cx="4166273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Red-teams every quote: scope gaps, risks, and missing details before approval.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11823650" y="5642670"/>
            <a:ext cx="4749775" cy="2499271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  <a:prstDash val="solid"/>
          </a:ln>
          <a:effectLst>
            <a:outerShdw blurRad="28575" dist="9525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2176075" y="5956995"/>
            <a:ext cx="723900" cy="723900"/>
          </a:xfrm>
          <a:prstGeom prst="ellipse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3090475" y="6021288"/>
            <a:ext cx="1909934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Lucy</a:t>
            </a:r>
            <a:endParaRPr lang="en-US" sz="2250" dirty="0"/>
          </a:p>
        </p:txBody>
      </p:sp>
      <p:sp>
        <p:nvSpPr>
          <p:cNvPr id="29" name="Text 22"/>
          <p:cNvSpPr/>
          <p:nvPr/>
        </p:nvSpPr>
        <p:spPr>
          <a:xfrm>
            <a:off x="13090475" y="6368951"/>
            <a:ext cx="190993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Communications</a:t>
            </a:r>
            <a:endParaRPr lang="en-US" sz="1800" dirty="0"/>
          </a:p>
        </p:txBody>
      </p:sp>
      <p:sp>
        <p:nvSpPr>
          <p:cNvPr id="30" name="Text 23"/>
          <p:cNvSpPr/>
          <p:nvPr/>
        </p:nvSpPr>
        <p:spPr>
          <a:xfrm>
            <a:off x="12176075" y="6833295"/>
            <a:ext cx="4166273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technical progress into client-ready reports, emails, and updates.</a:t>
            </a:r>
            <a:endParaRPr lang="en-US" sz="1800" dirty="0"/>
          </a:p>
        </p:txBody>
      </p:sp>
      <p:sp>
        <p:nvSpPr>
          <p:cNvPr id="31" name="Shape 24"/>
          <p:cNvSpPr/>
          <p:nvPr/>
        </p:nvSpPr>
        <p:spPr>
          <a:xfrm>
            <a:off x="1047750" y="8924925"/>
            <a:ext cx="16192500" cy="9525"/>
          </a:xfrm>
          <a:prstGeom prst="rect">
            <a:avLst/>
          </a:prstGeom>
          <a:solidFill>
            <a:srgbClr val="E3E1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5160913" y="9182100"/>
            <a:ext cx="87627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Specialists execute and escalate uncertainty — final decisions stay with people.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677206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E2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71588"/>
            <a:ext cx="6772067" cy="65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4350" b="1" dirty="0">
                <a:solidFill>
                  <a:srgbClr val="1919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systems are live today</a:t>
            </a:r>
            <a:endParaRPr lang="en-US" sz="4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3249" y="857250"/>
            <a:ext cx="1127001" cy="8763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2423666"/>
            <a:ext cx="16192500" cy="10763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047750" y="3490466"/>
            <a:ext cx="16192500" cy="9525"/>
          </a:xfrm>
          <a:prstGeom prst="rect">
            <a:avLst/>
          </a:prstGeom>
          <a:solidFill>
            <a:srgbClr val="E3E1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47750" y="2423666"/>
            <a:ext cx="16192500" cy="9525"/>
          </a:xfrm>
          <a:prstGeom prst="rect">
            <a:avLst/>
          </a:prstGeom>
          <a:solidFill>
            <a:srgbClr val="E3E1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47750" y="2423666"/>
            <a:ext cx="57150" cy="1076325"/>
          </a:xfrm>
          <a:prstGeom prst="rect">
            <a:avLst/>
          </a:prstGeom>
          <a:solidFill>
            <a:srgbClr val="1F8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7230725" y="2423666"/>
            <a:ext cx="9525" cy="1076325"/>
          </a:xfrm>
          <a:prstGeom prst="rect">
            <a:avLst/>
          </a:prstGeom>
          <a:solidFill>
            <a:srgbClr val="E3E1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485900" y="2680841"/>
            <a:ext cx="1480470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communication channels</a:t>
            </a:r>
            <a:endParaRPr lang="en-US" sz="1875" dirty="0"/>
          </a:p>
        </p:txBody>
      </p:sp>
      <p:sp>
        <p:nvSpPr>
          <p:cNvPr id="11" name="Text 8"/>
          <p:cNvSpPr/>
          <p:nvPr/>
        </p:nvSpPr>
        <p:spPr>
          <a:xfrm>
            <a:off x="1485900" y="2995166"/>
            <a:ext cx="148047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AI employees responding on their Teams paths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5805472" y="2735610"/>
            <a:ext cx="1044253" cy="452438"/>
          </a:xfrm>
          <a:prstGeom prst="roundRect">
            <a:avLst>
              <a:gd name="adj" fmla="val 50000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6034072" y="2830860"/>
            <a:ext cx="66325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047750" y="3671441"/>
            <a:ext cx="16192500" cy="10763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047750" y="4738241"/>
            <a:ext cx="16192500" cy="9525"/>
          </a:xfrm>
          <a:prstGeom prst="rect">
            <a:avLst/>
          </a:prstGeom>
          <a:solidFill>
            <a:srgbClr val="E3E1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047750" y="3671441"/>
            <a:ext cx="16192500" cy="9525"/>
          </a:xfrm>
          <a:prstGeom prst="rect">
            <a:avLst/>
          </a:prstGeom>
          <a:solidFill>
            <a:srgbClr val="E3E1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047750" y="3671441"/>
            <a:ext cx="57150" cy="1076325"/>
          </a:xfrm>
          <a:prstGeom prst="rect">
            <a:avLst/>
          </a:prstGeom>
          <a:solidFill>
            <a:srgbClr val="1F8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7230725" y="3671441"/>
            <a:ext cx="9525" cy="1076325"/>
          </a:xfrm>
          <a:prstGeom prst="rect">
            <a:avLst/>
          </a:prstGeom>
          <a:solidFill>
            <a:srgbClr val="E3E1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485900" y="3928616"/>
            <a:ext cx="1480470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Meaning-based company memory</a:t>
            </a:r>
            <a:endParaRPr lang="en-US" sz="1875" dirty="0"/>
          </a:p>
        </p:txBody>
      </p:sp>
      <p:sp>
        <p:nvSpPr>
          <p:cNvPr id="20" name="Text 17"/>
          <p:cNvSpPr/>
          <p:nvPr/>
        </p:nvSpPr>
        <p:spPr>
          <a:xfrm>
            <a:off x="1485900" y="4242941"/>
            <a:ext cx="148047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engine verified in production, v1.18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5805472" y="3983385"/>
            <a:ext cx="1044253" cy="452438"/>
          </a:xfrm>
          <a:prstGeom prst="roundRect">
            <a:avLst>
              <a:gd name="adj" fmla="val 50000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6034072" y="4078635"/>
            <a:ext cx="66325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047750" y="4919216"/>
            <a:ext cx="16192500" cy="10763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1047750" y="5986016"/>
            <a:ext cx="16192500" cy="9525"/>
          </a:xfrm>
          <a:prstGeom prst="rect">
            <a:avLst/>
          </a:prstGeom>
          <a:solidFill>
            <a:srgbClr val="E3E1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1047750" y="4919216"/>
            <a:ext cx="16192500" cy="9525"/>
          </a:xfrm>
          <a:prstGeom prst="rect">
            <a:avLst/>
          </a:prstGeom>
          <a:solidFill>
            <a:srgbClr val="E3E1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1047750" y="4919216"/>
            <a:ext cx="57150" cy="1076325"/>
          </a:xfrm>
          <a:prstGeom prst="rect">
            <a:avLst/>
          </a:prstGeom>
          <a:solidFill>
            <a:srgbClr val="1F8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17230725" y="4919216"/>
            <a:ext cx="9525" cy="1076325"/>
          </a:xfrm>
          <a:prstGeom prst="rect">
            <a:avLst/>
          </a:prstGeom>
          <a:solidFill>
            <a:srgbClr val="E3E1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1485900" y="5176391"/>
            <a:ext cx="1480470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continuity</a:t>
            </a:r>
            <a:endParaRPr lang="en-US" sz="1875" dirty="0"/>
          </a:p>
        </p:txBody>
      </p:sp>
      <p:sp>
        <p:nvSpPr>
          <p:cNvPr id="29" name="Text 26"/>
          <p:cNvSpPr/>
          <p:nvPr/>
        </p:nvSpPr>
        <p:spPr>
          <a:xfrm>
            <a:off x="1485900" y="5490716"/>
            <a:ext cx="148047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employees remember context across sessions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15805472" y="5231160"/>
            <a:ext cx="1044253" cy="452438"/>
          </a:xfrm>
          <a:prstGeom prst="roundRect">
            <a:avLst>
              <a:gd name="adj" fmla="val 50000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16034072" y="5326410"/>
            <a:ext cx="66325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1047750" y="6166991"/>
            <a:ext cx="16192500" cy="10763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1047750" y="7233791"/>
            <a:ext cx="16192500" cy="9525"/>
          </a:xfrm>
          <a:prstGeom prst="rect">
            <a:avLst/>
          </a:prstGeom>
          <a:solidFill>
            <a:srgbClr val="E3E1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1047750" y="6166991"/>
            <a:ext cx="16192500" cy="9525"/>
          </a:xfrm>
          <a:prstGeom prst="rect">
            <a:avLst/>
          </a:prstGeom>
          <a:solidFill>
            <a:srgbClr val="E3E1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1047750" y="6166991"/>
            <a:ext cx="57150" cy="1076325"/>
          </a:xfrm>
          <a:prstGeom prst="rect">
            <a:avLst/>
          </a:prstGeom>
          <a:solidFill>
            <a:srgbClr val="C98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17230725" y="6166991"/>
            <a:ext cx="9525" cy="1076325"/>
          </a:xfrm>
          <a:prstGeom prst="rect">
            <a:avLst/>
          </a:prstGeom>
          <a:solidFill>
            <a:srgbClr val="E3E1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1485900" y="6424166"/>
            <a:ext cx="1480470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system connectors (Odoo/ERP)</a:t>
            </a:r>
            <a:endParaRPr lang="en-US" sz="1875" dirty="0"/>
          </a:p>
        </p:txBody>
      </p:sp>
      <p:sp>
        <p:nvSpPr>
          <p:cNvPr id="38" name="Text 35"/>
          <p:cNvSpPr/>
          <p:nvPr/>
        </p:nvSpPr>
        <p:spPr>
          <a:xfrm>
            <a:off x="1485900" y="6738491"/>
            <a:ext cx="148047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and connected; completing stability review before rollout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>
            <a:off x="14815021" y="6478935"/>
            <a:ext cx="2034704" cy="452438"/>
          </a:xfrm>
          <a:prstGeom prst="roundRect">
            <a:avLst>
              <a:gd name="adj" fmla="val 50000"/>
            </a:avLst>
          </a:prstGeom>
          <a:solidFill>
            <a:srgbClr val="FBF1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15043621" y="6574185"/>
            <a:ext cx="165370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A97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HARDENING</a:t>
            </a:r>
            <a:endParaRPr lang="en-US" sz="1800" dirty="0"/>
          </a:p>
        </p:txBody>
      </p:sp>
      <p:sp>
        <p:nvSpPr>
          <p:cNvPr id="41" name="Shape 38"/>
          <p:cNvSpPr/>
          <p:nvPr/>
        </p:nvSpPr>
        <p:spPr>
          <a:xfrm>
            <a:off x="1047750" y="7414766"/>
            <a:ext cx="16192500" cy="10763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1047750" y="8481566"/>
            <a:ext cx="16192500" cy="9525"/>
          </a:xfrm>
          <a:prstGeom prst="rect">
            <a:avLst/>
          </a:prstGeom>
          <a:solidFill>
            <a:srgbClr val="E3E1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1047750" y="7414766"/>
            <a:ext cx="16192500" cy="9525"/>
          </a:xfrm>
          <a:prstGeom prst="rect">
            <a:avLst/>
          </a:prstGeom>
          <a:solidFill>
            <a:srgbClr val="E3E1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1047750" y="7414766"/>
            <a:ext cx="57150" cy="1076325"/>
          </a:xfrm>
          <a:prstGeom prst="rect">
            <a:avLst/>
          </a:prstGeom>
          <a:solidFill>
            <a:srgbClr val="C98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17230725" y="7414766"/>
            <a:ext cx="9525" cy="1076325"/>
          </a:xfrm>
          <a:prstGeom prst="rect">
            <a:avLst/>
          </a:prstGeom>
          <a:solidFill>
            <a:srgbClr val="E3E1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1485900" y="7671941"/>
            <a:ext cx="1480470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Self-improvement scaffolding</a:t>
            </a:r>
            <a:endParaRPr lang="en-US" sz="1875" dirty="0"/>
          </a:p>
        </p:txBody>
      </p:sp>
      <p:sp>
        <p:nvSpPr>
          <p:cNvPr id="47" name="Text 44"/>
          <p:cNvSpPr/>
          <p:nvPr/>
        </p:nvSpPr>
        <p:spPr>
          <a:xfrm>
            <a:off x="1485900" y="7986266"/>
            <a:ext cx="148047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in place — becomes Goal 2's improvement engine</a:t>
            </a:r>
            <a:endParaRPr lang="en-US" sz="1800" dirty="0"/>
          </a:p>
        </p:txBody>
      </p:sp>
      <p:sp>
        <p:nvSpPr>
          <p:cNvPr id="48" name="Shape 45"/>
          <p:cNvSpPr/>
          <p:nvPr/>
        </p:nvSpPr>
        <p:spPr>
          <a:xfrm>
            <a:off x="15617651" y="7726710"/>
            <a:ext cx="1232074" cy="452438"/>
          </a:xfrm>
          <a:prstGeom prst="roundRect">
            <a:avLst>
              <a:gd name="adj" fmla="val 50000"/>
            </a:avLst>
          </a:prstGeom>
          <a:solidFill>
            <a:srgbClr val="FBF1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15846251" y="7821960"/>
            <a:ext cx="85107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A97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800" dirty="0"/>
          </a:p>
        </p:txBody>
      </p:sp>
      <p:sp>
        <p:nvSpPr>
          <p:cNvPr id="50" name="Shape 47"/>
          <p:cNvSpPr/>
          <p:nvPr/>
        </p:nvSpPr>
        <p:spPr>
          <a:xfrm>
            <a:off x="1047750" y="8791575"/>
            <a:ext cx="16192500" cy="19050"/>
          </a:xfrm>
          <a:prstGeom prst="rect">
            <a:avLst/>
          </a:pr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454588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F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2 · SELF-EVOLVING AI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71588"/>
            <a:ext cx="14545881" cy="65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4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Next: AI that improves itself — with approval gates built in</a:t>
            </a:r>
            <a:endParaRPr lang="en-US" sz="4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60217" y="857250"/>
            <a:ext cx="980033" cy="76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7750" y="4459858"/>
            <a:ext cx="8884171" cy="1704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9C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AI employee's performance is measured against real scenarios. When a better way of working is found, it is tested, compared to the current baseline, and </a:t>
            </a: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only after a human approves it </a:t>
            </a:r>
            <a:r>
              <a:rPr lang="en-US" sz="2250" dirty="0">
                <a:solidFill>
                  <a:srgbClr val="C9C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1047750" y="6412483"/>
            <a:ext cx="38100" cy="1057275"/>
          </a:xfrm>
          <a:prstGeom prst="rect">
            <a:avLst/>
          </a:prstGeom>
          <a:solidFill>
            <a:srgbClr val="E221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371600" y="6412483"/>
            <a:ext cx="913171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Self-evolving ≠ uncontrolled</a:t>
            </a:r>
            <a:endParaRPr lang="en-US" sz="1875" dirty="0"/>
          </a:p>
        </p:txBody>
      </p:sp>
      <p:sp>
        <p:nvSpPr>
          <p:cNvPr id="8" name="Text 5"/>
          <p:cNvSpPr/>
          <p:nvPr/>
        </p:nvSpPr>
        <p:spPr>
          <a:xfrm>
            <a:off x="1371600" y="6783958"/>
            <a:ext cx="855060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B5B4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means the system gets better every month — without anyone losing control of how it behaves.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0339908" y="3376092"/>
            <a:ext cx="3354884" cy="1592461"/>
          </a:xfrm>
          <a:prstGeom prst="rect">
            <a:avLst/>
          </a:prstGeom>
          <a:solidFill>
            <a:srgbClr val="1E1E1A"/>
          </a:solidFill>
          <a:ln w="9525">
            <a:solidFill>
              <a:srgbClr val="3333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635183" y="3652317"/>
            <a:ext cx="304076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6B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Observe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10635183" y="4052367"/>
            <a:ext cx="2847264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B5B4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how AI handles real work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3885292" y="3376092"/>
            <a:ext cx="3354958" cy="1592461"/>
          </a:xfrm>
          <a:prstGeom prst="rect">
            <a:avLst/>
          </a:prstGeom>
          <a:solidFill>
            <a:srgbClr val="1E1E1A"/>
          </a:solidFill>
          <a:ln w="9525">
            <a:solidFill>
              <a:srgbClr val="3333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4180567" y="3652317"/>
            <a:ext cx="304084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6B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Evaluate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14180567" y="4052367"/>
            <a:ext cx="284734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B5B4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results against the baseline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0339908" y="5159053"/>
            <a:ext cx="3354884" cy="1611511"/>
          </a:xfrm>
          <a:prstGeom prst="rect">
            <a:avLst/>
          </a:prstGeom>
          <a:solidFill>
            <a:srgbClr val="1E1E1A"/>
          </a:solidFill>
          <a:ln w="9525">
            <a:solidFill>
              <a:srgbClr val="3333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635183" y="5435278"/>
            <a:ext cx="304076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6B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Propose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10635183" y="5835328"/>
            <a:ext cx="2847264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B5B4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an improved way of working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3885292" y="5159053"/>
            <a:ext cx="3354958" cy="1611511"/>
          </a:xfrm>
          <a:prstGeom prst="rect">
            <a:avLst/>
          </a:prstGeom>
          <a:solidFill>
            <a:srgbClr val="26201B"/>
          </a:solidFill>
          <a:ln w="19050">
            <a:solidFill>
              <a:srgbClr val="E221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4190092" y="5444803"/>
            <a:ext cx="301989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· Approve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14190092" y="5844853"/>
            <a:ext cx="2827719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5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 signs off — always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0339908" y="6961063"/>
            <a:ext cx="3354884" cy="1592461"/>
          </a:xfrm>
          <a:prstGeom prst="rect">
            <a:avLst/>
          </a:prstGeom>
          <a:solidFill>
            <a:srgbClr val="1E1E1A"/>
          </a:solidFill>
          <a:ln w="9525">
            <a:solidFill>
              <a:srgbClr val="3333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0635183" y="7237288"/>
            <a:ext cx="304076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6B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· Deploy</a:t>
            </a:r>
            <a:endParaRPr lang="en-US" sz="2250" dirty="0"/>
          </a:p>
        </p:txBody>
      </p:sp>
      <p:sp>
        <p:nvSpPr>
          <p:cNvPr id="23" name="Text 20"/>
          <p:cNvSpPr/>
          <p:nvPr/>
        </p:nvSpPr>
        <p:spPr>
          <a:xfrm>
            <a:off x="10635183" y="7637338"/>
            <a:ext cx="2847264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B5B4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the proven improvement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13885292" y="6961063"/>
            <a:ext cx="3354958" cy="1592461"/>
          </a:xfrm>
          <a:prstGeom prst="rect">
            <a:avLst/>
          </a:prstGeom>
          <a:solidFill>
            <a:srgbClr val="1E1E1A"/>
          </a:solidFill>
          <a:ln w="9525">
            <a:solidFill>
              <a:srgbClr val="3333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4180567" y="7237288"/>
            <a:ext cx="304084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6B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· Monitor</a:t>
            </a:r>
            <a:endParaRPr lang="en-US" sz="2250" dirty="0"/>
          </a:p>
        </p:txBody>
      </p:sp>
      <p:sp>
        <p:nvSpPr>
          <p:cNvPr id="26" name="Text 23"/>
          <p:cNvSpPr/>
          <p:nvPr/>
        </p:nvSpPr>
        <p:spPr>
          <a:xfrm>
            <a:off x="14180567" y="7637338"/>
            <a:ext cx="284734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B5B4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results, repeat the loop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465916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E2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71588"/>
            <a:ext cx="14659168" cy="65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4350" b="1" dirty="0">
                <a:solidFill>
                  <a:srgbClr val="1919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next 90 days turn infrastructure into measurable wins</a:t>
            </a:r>
            <a:endParaRPr lang="en-US" sz="4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3249" y="857250"/>
            <a:ext cx="1127001" cy="8763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2557016"/>
            <a:ext cx="3833812" cy="38100"/>
          </a:xfrm>
          <a:prstGeom prst="rect">
            <a:avLst/>
          </a:pr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47750" y="2861816"/>
            <a:ext cx="4217194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E22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1047750" y="3399979"/>
            <a:ext cx="421719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the foundation</a:t>
            </a:r>
            <a:endParaRPr lang="en-US" sz="1875" dirty="0"/>
          </a:p>
        </p:txBody>
      </p:sp>
      <p:sp>
        <p:nvSpPr>
          <p:cNvPr id="8" name="Text 5"/>
          <p:cNvSpPr/>
          <p:nvPr/>
        </p:nvSpPr>
        <p:spPr>
          <a:xfrm>
            <a:off x="1047750" y="3880991"/>
            <a:ext cx="3948827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Stabilize remaining connectors and complete company-file ingestion, category by category.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167313" y="2557016"/>
            <a:ext cx="3833812" cy="38100"/>
          </a:xfrm>
          <a:prstGeom prst="rect">
            <a:avLst/>
          </a:pr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167313" y="2861816"/>
            <a:ext cx="4217194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E22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5167313" y="3399979"/>
            <a:ext cx="421719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workflow pilots</a:t>
            </a:r>
            <a:endParaRPr lang="en-US" sz="1875" dirty="0"/>
          </a:p>
        </p:txBody>
      </p:sp>
      <p:sp>
        <p:nvSpPr>
          <p:cNvPr id="12" name="Text 9"/>
          <p:cNvSpPr/>
          <p:nvPr/>
        </p:nvSpPr>
        <p:spPr>
          <a:xfrm>
            <a:off x="5167313" y="3880991"/>
            <a:ext cx="3948827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Estimating intake, quote prep, reporting, and file search — each with a measured time/cost baseline.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9286875" y="2557016"/>
            <a:ext cx="3833812" cy="38100"/>
          </a:xfrm>
          <a:prstGeom prst="rect">
            <a:avLst/>
          </a:pr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286875" y="2861816"/>
            <a:ext cx="4217194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E22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9286875" y="3399979"/>
            <a:ext cx="421719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up the improvement engine</a:t>
            </a:r>
            <a:endParaRPr lang="en-US" sz="1875" dirty="0"/>
          </a:p>
        </p:txBody>
      </p:sp>
      <p:sp>
        <p:nvSpPr>
          <p:cNvPr id="16" name="Text 13"/>
          <p:cNvSpPr/>
          <p:nvPr/>
        </p:nvSpPr>
        <p:spPr>
          <a:xfrm>
            <a:off x="9286875" y="3880991"/>
            <a:ext cx="3948827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Reviewed scenario datasets and baseline scores for each AI employee — Goal 2 goes operational.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3406438" y="2557016"/>
            <a:ext cx="3833812" cy="38100"/>
          </a:xfrm>
          <a:prstGeom prst="rect">
            <a:avLst/>
          </a:pr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3406438" y="2861816"/>
            <a:ext cx="4217194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E22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550" dirty="0"/>
          </a:p>
        </p:txBody>
      </p:sp>
      <p:sp>
        <p:nvSpPr>
          <p:cNvPr id="19" name="Text 16"/>
          <p:cNvSpPr/>
          <p:nvPr/>
        </p:nvSpPr>
        <p:spPr>
          <a:xfrm>
            <a:off x="13406438" y="3399979"/>
            <a:ext cx="421719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the ROI</a:t>
            </a:r>
            <a:endParaRPr lang="en-US" sz="1875" dirty="0"/>
          </a:p>
        </p:txBody>
      </p:sp>
      <p:sp>
        <p:nvSpPr>
          <p:cNvPr id="20" name="Text 17"/>
          <p:cNvSpPr/>
          <p:nvPr/>
        </p:nvSpPr>
        <p:spPr>
          <a:xfrm>
            <a:off x="13406438" y="3880991"/>
            <a:ext cx="3948827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pilots against baselines and report time saved, rework avoided, and cost removed.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047750" y="8448675"/>
            <a:ext cx="16192500" cy="981075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504950" y="8808244"/>
            <a:ext cx="2678802" cy="3000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FF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DAY-180 TARGET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206925" y="8728983"/>
            <a:ext cx="1278533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F5F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in the next report backed by a measured number: hours saved, quotes accelerated, rework avoided.</a:t>
            </a:r>
            <a:endParaRPr lang="en-US" sz="18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323529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E2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 WORTH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71588"/>
            <a:ext cx="13235293" cy="65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4350" b="1" dirty="0">
                <a:solidFill>
                  <a:srgbClr val="1919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defensible path to one-third more enterprise value</a:t>
            </a:r>
            <a:endParaRPr lang="en-US" sz="4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3249" y="857250"/>
            <a:ext cx="1127001" cy="8763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7750" y="2461766"/>
            <a:ext cx="8082655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50" b="1" dirty="0">
                <a:solidFill>
                  <a:srgbClr val="E22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1.33x</a:t>
            </a:r>
            <a:endParaRPr lang="en-US" sz="9750" dirty="0"/>
          </a:p>
        </p:txBody>
      </p:sp>
      <p:sp>
        <p:nvSpPr>
          <p:cNvPr id="6" name="Text 3"/>
          <p:cNvSpPr/>
          <p:nvPr/>
        </p:nvSpPr>
        <p:spPr>
          <a:xfrm>
            <a:off x="1047750" y="3757166"/>
            <a:ext cx="808265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base-case enterprise value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1047750" y="4142929"/>
            <a:ext cx="80826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+33% on today's business, using standard appraisal math</a:t>
            </a:r>
            <a:endParaRPr lang="en-US" sz="1875" dirty="0"/>
          </a:p>
        </p:txBody>
      </p:sp>
      <p:sp>
        <p:nvSpPr>
          <p:cNvPr id="8" name="Shape 5"/>
          <p:cNvSpPr/>
          <p:nvPr/>
        </p:nvSpPr>
        <p:spPr>
          <a:xfrm>
            <a:off x="1047750" y="4752529"/>
            <a:ext cx="7347868" cy="9525"/>
          </a:xfrm>
          <a:prstGeom prst="rect">
            <a:avLst/>
          </a:prstGeom>
          <a:solidFill>
            <a:srgbClr val="E3E1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47750" y="5047804"/>
            <a:ext cx="808265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VALUE DRIVERS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47750" y="5471666"/>
            <a:ext cx="19079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22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314748" y="5462141"/>
            <a:ext cx="7373950" cy="388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75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uplift </a:t>
            </a:r>
            <a:r>
              <a:rPr lang="en-US" sz="1875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faster estimating, search, reporting; less rework</a:t>
            </a:r>
            <a:endParaRPr lang="en-US" sz="1875" dirty="0"/>
          </a:p>
        </p:txBody>
      </p:sp>
      <p:sp>
        <p:nvSpPr>
          <p:cNvPr id="12" name="Text 9"/>
          <p:cNvSpPr/>
          <p:nvPr/>
        </p:nvSpPr>
        <p:spPr>
          <a:xfrm>
            <a:off x="1047750" y="5974110"/>
            <a:ext cx="22517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22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349127" y="5964585"/>
            <a:ext cx="7257886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75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expansion </a:t>
            </a:r>
            <a:r>
              <a:rPr lang="en-US" sz="1875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lower key-person risk, documented process, cleaner diligence</a:t>
            </a:r>
            <a:endParaRPr lang="en-US" sz="1875" dirty="0"/>
          </a:p>
        </p:txBody>
      </p:sp>
      <p:sp>
        <p:nvSpPr>
          <p:cNvPr id="14" name="Text 11"/>
          <p:cNvSpPr/>
          <p:nvPr/>
        </p:nvSpPr>
        <p:spPr>
          <a:xfrm>
            <a:off x="9157618" y="2461766"/>
            <a:ext cx="889089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VALUE MULTIPLE BY SCENARIO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972749" y="4822701"/>
            <a:ext cx="911498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919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1.12x</a:t>
            </a:r>
            <a:endParaRPr lang="en-US" sz="3000" dirty="0"/>
          </a:p>
        </p:txBody>
      </p:sp>
      <p:sp>
        <p:nvSpPr>
          <p:cNvPr id="16" name="Shape 13"/>
          <p:cNvSpPr/>
          <p:nvPr/>
        </p:nvSpPr>
        <p:spPr>
          <a:xfrm>
            <a:off x="9252868" y="5389438"/>
            <a:ext cx="2275061" cy="1934394"/>
          </a:xfrm>
          <a:prstGeom prst="rect">
            <a:avLst/>
          </a:prstGeom>
          <a:solidFill>
            <a:srgbClr val="D8D6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723313" y="7457182"/>
            <a:ext cx="146750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333161" y="7852470"/>
            <a:ext cx="23259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+5% EBITDA · 4.00x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759258" y="3804568"/>
            <a:ext cx="955402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22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1.33x</a:t>
            </a:r>
            <a:endParaRPr lang="en-US" sz="3000" dirty="0"/>
          </a:p>
        </p:txBody>
      </p:sp>
      <p:sp>
        <p:nvSpPr>
          <p:cNvPr id="20" name="Shape 17"/>
          <p:cNvSpPr/>
          <p:nvPr/>
        </p:nvSpPr>
        <p:spPr>
          <a:xfrm>
            <a:off x="12061329" y="4371305"/>
            <a:ext cx="2275136" cy="2952527"/>
          </a:xfrm>
          <a:prstGeom prst="rect">
            <a:avLst/>
          </a:prstGeom>
          <a:solidFill>
            <a:srgbClr val="E221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2665125" y="7457182"/>
            <a:ext cx="114367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2082165" y="7852470"/>
            <a:ext cx="24568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EBITDA · 4.35x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5569580" y="3009454"/>
            <a:ext cx="951905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919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1.65x</a:t>
            </a:r>
            <a:endParaRPr lang="en-US" sz="3000" dirty="0"/>
          </a:p>
        </p:txBody>
      </p:sp>
      <p:sp>
        <p:nvSpPr>
          <p:cNvPr id="24" name="Shape 21"/>
          <p:cNvSpPr/>
          <p:nvPr/>
        </p:nvSpPr>
        <p:spPr>
          <a:xfrm>
            <a:off x="14869864" y="3576191"/>
            <a:ext cx="2275136" cy="3747641"/>
          </a:xfrm>
          <a:prstGeom prst="rect">
            <a:avLst/>
          </a:prstGeom>
          <a:solidFill>
            <a:srgbClr val="4A4A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5410259" y="7457182"/>
            <a:ext cx="131369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ROI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4886980" y="7852470"/>
            <a:ext cx="24649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 EBITDA · 4.75x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1047750" y="8481120"/>
            <a:ext cx="16192500" cy="19050"/>
          </a:xfrm>
          <a:prstGeom prst="rect">
            <a:avLst/>
          </a:pr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1047750" y="8947842"/>
            <a:ext cx="1361175" cy="3000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E2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2551881" y="8766870"/>
            <a:ext cx="15129020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value = adjusted EBITDA × market multiple. Baseline 3.75x for small private manufacturing. Numbers grounded in appraisal practice — built to survive buyer diligence.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857250"/>
            <a:ext cx="1960066" cy="152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7750" y="4487614"/>
            <a:ext cx="14716125" cy="193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foundation is built. Now we prove the returns.</a:t>
            </a:r>
            <a:endParaRPr lang="en-US" sz="6900" dirty="0"/>
          </a:p>
        </p:txBody>
      </p:sp>
      <p:sp>
        <p:nvSpPr>
          <p:cNvPr id="4" name="Shape 1"/>
          <p:cNvSpPr/>
          <p:nvPr/>
        </p:nvSpPr>
        <p:spPr>
          <a:xfrm>
            <a:off x="1047750" y="6899523"/>
            <a:ext cx="514350" cy="38100"/>
          </a:xfrm>
          <a:prstGeom prst="rect">
            <a:avLst/>
          </a:prstGeom>
          <a:solidFill>
            <a:srgbClr val="E221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733550" y="6761411"/>
            <a:ext cx="984459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C9C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proceed to workflow pilots with measured baselines.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1047750" y="9182100"/>
            <a:ext cx="434988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Infinite AI OS · 90-Day Progress Report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113844" y="9182100"/>
            <a:ext cx="120260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1525</Words>
  <Application>Microsoft Macintosh PowerPoint</Application>
  <PresentationFormat>Custom</PresentationFormat>
  <Paragraphs>220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Engravers MT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Rakesh David</cp:lastModifiedBy>
  <cp:revision>7</cp:revision>
  <dcterms:created xsi:type="dcterms:W3CDTF">2026-07-08T15:23:30Z</dcterms:created>
  <dcterms:modified xsi:type="dcterms:W3CDTF">2026-07-08T17:54:52Z</dcterms:modified>
</cp:coreProperties>
</file>